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B931A0-AADE-44F4-9280-D964D3A57C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14D25-6B22-452F-8286-432CA4EC5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621C4-29D6-404D-AE69-A957F92908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FA929-A7F5-4D5B-BD70-C741B5163F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D5A28-D0C7-496A-9A3F-4FC307965C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A590AB-599F-4637-A562-4EE0250BEE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DE0B0F-5518-4AA3-9308-CBC291649D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968B45-1284-4537-A588-785FD78F7F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EC90FB-444C-41D7-B2FB-CFF3D507C1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15D151-50D3-4D43-8242-70C87253DF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1F623-7308-4B41-934F-3C683B66BBF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0CB81-51E0-45AC-AB02-F5E8A82B61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fld id="{956AC1C3-4D80-4A87-861C-DF10680BA409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416E75F5-7E82-4030-A74A-1532701C6BF3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9000000" cy="247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2a6099"/>
                </a:solidFill>
                <a:latin typeface="Times New Roman"/>
              </a:rPr>
              <a:t>Image Classification on Fashion-MNIST: </a:t>
            </a:r>
            <a:br>
              <a:rPr sz="4400"/>
            </a:br>
            <a:r>
              <a:rPr b="0" lang="en-US" sz="4400" spc="-1" strike="noStrike">
                <a:solidFill>
                  <a:srgbClr val="2a6099"/>
                </a:solidFill>
                <a:latin typeface="Times New Roman"/>
              </a:rPr>
              <a:t>A Comparative Study of </a:t>
            </a:r>
            <a:r>
              <a:rPr b="0" lang="en-US" sz="4400" spc="-1" strike="noStrike">
                <a:solidFill>
                  <a:srgbClr val="dd4100"/>
                </a:solidFill>
                <a:latin typeface="Times New Roman"/>
              </a:rPr>
              <a:t>ANN</a:t>
            </a:r>
            <a:r>
              <a:rPr b="0" lang="en-US" sz="4400" spc="-1" strike="noStrike">
                <a:solidFill>
                  <a:srgbClr val="2a6099"/>
                </a:solidFill>
                <a:latin typeface="Times New Roman"/>
              </a:rPr>
              <a:t> and </a:t>
            </a:r>
            <a:r>
              <a:rPr b="0" lang="en-US" sz="4400" spc="-1" strike="noStrike">
                <a:solidFill>
                  <a:srgbClr val="dd4100"/>
                </a:solidFill>
                <a:latin typeface="Times New Roman"/>
              </a:rPr>
              <a:t>CNN</a:t>
            </a:r>
            <a:r>
              <a:rPr b="0" lang="en-US" sz="4400" spc="-1" strike="noStrike">
                <a:solidFill>
                  <a:srgbClr val="2a6099"/>
                </a:solidFill>
                <a:latin typeface="Times New Roman"/>
              </a:rPr>
              <a:t> Architectures</a:t>
            </a:r>
            <a:endParaRPr b="0" lang="en-US" sz="4400" spc="-1" strike="noStrike">
              <a:solidFill>
                <a:srgbClr val="2a6099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858000" y="4628160"/>
            <a:ext cx="2743200" cy="858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Times New Roman"/>
              </a:rPr>
              <a:t>Presented by: </a:t>
            </a:r>
            <a:br>
              <a:rPr sz="1800"/>
            </a:br>
            <a:r>
              <a:rPr b="0" lang="en-US" sz="1800" spc="-1" strike="noStrike">
                <a:latin typeface="Times New Roman"/>
              </a:rPr>
              <a:t>Tobi Obadiah</a:t>
            </a:r>
            <a:br>
              <a:rPr sz="1800"/>
            </a:br>
            <a:r>
              <a:rPr b="0" lang="en-US" sz="1800" spc="-1" strike="noStrike">
                <a:latin typeface="Times New Roman"/>
              </a:rPr>
              <a:t>P2936872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057400" y="4628160"/>
            <a:ext cx="2743200" cy="858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Times New Roman"/>
              </a:rPr>
              <a:t>Course: </a:t>
            </a:r>
            <a:br>
              <a:rPr sz="1800"/>
            </a:br>
            <a:r>
              <a:rPr b="0" lang="en-US" sz="1800" spc="-1" strike="noStrike">
                <a:latin typeface="Times New Roman"/>
              </a:rPr>
              <a:t>Neural Systems &amp; NLP - CSIP5103_2025_601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 </a:t>
            </a: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Project Overview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44000" y="1308600"/>
            <a:ext cx="602820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000" spc="-1" strike="noStrike">
                <a:solidFill>
                  <a:srgbClr val="dd4100"/>
                </a:solidFill>
                <a:latin typeface="Arial"/>
              </a:rPr>
              <a:t>Objective:</a:t>
            </a:r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2a6099"/>
                </a:solidFill>
                <a:latin typeface="Arial"/>
              </a:rPr>
              <a:t>To develop and compare two neural network models for classifying fashion images into 10 categories.</a:t>
            </a:r>
            <a:endParaRPr b="0" lang="en-US" sz="2000" spc="-1" strike="noStrike">
              <a:solidFill>
                <a:srgbClr val="2a6099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44000" y="2633040"/>
            <a:ext cx="6256800" cy="25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000" spc="-1" strike="noStrike">
                <a:solidFill>
                  <a:srgbClr val="dd4100"/>
                </a:solidFill>
                <a:latin typeface="Arial"/>
              </a:rPr>
              <a:t>Fashion-MNIST Dataset: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2a6099"/>
                </a:solidFill>
                <a:latin typeface="Arial"/>
              </a:rPr>
              <a:t>60,000 training images + 10,000 test images.</a:t>
            </a:r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2a6099"/>
                </a:solidFill>
                <a:latin typeface="Arial"/>
              </a:rPr>
              <a:t>Grayscale, 28x28 pixels.</a:t>
            </a:r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br>
              <a:rPr sz="2000"/>
            </a:br>
            <a:r>
              <a:rPr b="0" lang="en-US" sz="2000" spc="-1" strike="noStrike">
                <a:solidFill>
                  <a:srgbClr val="2a6099"/>
                </a:solidFill>
                <a:latin typeface="Arial"/>
              </a:rPr>
              <a:t>10 Classes: T-shirt, Trouser, Pullover, Dress, Coat, Sandal, Shirt, Sneaker, Bag, Ankle boot.</a:t>
            </a:r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endParaRPr b="0" lang="en-US" sz="2000" spc="-1" strike="noStrike">
              <a:solidFill>
                <a:srgbClr val="2a6099"/>
              </a:solidFill>
              <a:latin typeface="Arial"/>
            </a:endParaRPr>
          </a:p>
          <a:p>
            <a:endParaRPr b="0" lang="en-US" sz="2000" spc="-1" strike="noStrike">
              <a:solidFill>
                <a:srgbClr val="2a6099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6128640" y="1143000"/>
            <a:ext cx="3701160" cy="3848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8600" y="291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Preparing the Data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28600" y="1207080"/>
            <a:ext cx="57996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Preprocessing: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Scaled pixel values from [0, 255] to [0, 1] using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ToTensor().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Normalized using Fashion-MNIST specific means (0.2859) and standard deviations (0.3530)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28600" y="2971800"/>
            <a:ext cx="5571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Data Augmentation (Training Set Only):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Why? To improve model generalization and prevent overfitting.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Techniques: Random Horizontal Flips, Random Rotations (±10°), Random Resized Crops.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5715000" y="1143000"/>
            <a:ext cx="3886200" cy="401652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91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The Two Models: ANN vs. CNN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72600" y="1207080"/>
            <a:ext cx="9000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Multi-Layer Perceptron (ANN):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Input: Flattened 28x28 image (784 pixels).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Architecture: 4 Fully Connected (Linear) layers: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784 → 512 → 256 → 128.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Activation: ReLU.</a:t>
            </a: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ANN Parameters: 567,434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72600" y="2971800"/>
            <a:ext cx="9000000" cy="153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Convolutional Neural Network (CNN):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Feature Extraction: 3 Conv Layers with BatchNorm and MaxPooling.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Classifier: Adaptive Average Pooling → 64 units → Output.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Key Idea: Learns spatial hierarchies of features (edges, textures, patterns).</a:t>
            </a: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CNN Parameters: 224,906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Implementation Highlights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14120" y="914400"/>
            <a:ext cx="4686480" cy="3796920"/>
          </a:xfrm>
          <a:prstGeom prst="rect">
            <a:avLst/>
          </a:prstGeom>
          <a:ln w="1800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572000" y="1600560"/>
            <a:ext cx="5162040" cy="3428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Experimental Setup &amp; Key Results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57200" y="1408320"/>
            <a:ext cx="4800600" cy="179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Training Configuration (Identical for both):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br>
              <a:rPr sz="1800"/>
            </a:br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Loss Function: CrossEntropyLoss</a:t>
            </a: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Optimizer: Adam (lr=0.001)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Epochs: 15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Batch Size: 64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401800" y="1371600"/>
            <a:ext cx="3970800" cy="205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Final Test Accuracy: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br>
              <a:rPr sz="1800"/>
            </a:br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ANN Model: 87.4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%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CNN Model: 92.2% 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72600" y="291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Performance Comparison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72600" y="1143000"/>
            <a:ext cx="4428000" cy="303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Key Takeaways from the Plot: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CNN achieves higher accuracy from the start.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CNN's validation accuracy is more stable and consistently higher than the ANN's.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This graph provides clear, visual evidence of the CNN's superiority.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800600" y="1092240"/>
            <a:ext cx="5223240" cy="40608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72600" y="2808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Confusion Matrices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21600" y="914400"/>
            <a:ext cx="10058400" cy="41292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63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Times New Roman"/>
              </a:rPr>
              <a:t>Why Did the CNN Perform Better?</a:t>
            </a:r>
            <a:endParaRPr b="0" lang="en-US" sz="3300" spc="-1" strike="noStrike">
              <a:solidFill>
                <a:srgbClr val="dd41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72600" y="960840"/>
            <a:ext cx="9457200" cy="38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Spatial Hierarchies: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CNNs are designed (using filters) to learn local patterns (edges, corners) and combine them into more complex features (sleeves, collars). This is ideal for images.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Parameter Sharing: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Filters are shared across the image, making CNNs more efficient and requiring fewer parameters than a similarly powerful ANN.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Translation Invariance: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A bag is a bag, whether it's in the corner or center of the image. CNNs naturally handle this.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The ANN's Limitation: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By flattening the image, the ANN loses all spatial information, treating nearby pixels equally, which is not </a:t>
            </a:r>
            <a:r>
              <a:rPr b="0" lang="en-US" sz="1800" spc="-1" strike="noStrike">
                <a:solidFill>
                  <a:srgbClr val="ff6d6d"/>
                </a:solidFill>
                <a:latin typeface="Arial"/>
              </a:rPr>
              <a:t>optimal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Model Predictions on Test Set (CNN)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2490120" y="1308600"/>
            <a:ext cx="4596480" cy="41148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72600" y="63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Conclusion &amp; Next Steps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01200" y="1116000"/>
            <a:ext cx="9000000" cy="332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Conclusion:</a:t>
            </a:r>
            <a:br>
              <a:rPr sz="1800"/>
            </a:br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CNNs are demonstrably more effective for image classification than ANNs, as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shown by the 3.9% performance gain.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The architectural advantages of CNNs in processing spatial information are clear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and decisive.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dd4100"/>
                </a:solidFill>
                <a:latin typeface="Arial"/>
              </a:rPr>
              <a:t>Future Improvements: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Hyperparameter Tuning: Using SGD optimizer with adaptive learning rate, training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for longer epoch.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* Advanced Architectures: Use pre-trained models (Transfer Learning) or deeper 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2a6099"/>
                </a:solidFill>
                <a:latin typeface="Arial"/>
              </a:rPr>
              <a:t>CNNs like ResNet.</a:t>
            </a:r>
            <a:endParaRPr b="0" lang="en-US" sz="18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72600" y="63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Conclusion &amp; Next Steps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72600" y="63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Conclusion &amp; Next Steps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 txBox="1"/>
          <p:nvPr/>
        </p:nvSpPr>
        <p:spPr>
          <a:xfrm>
            <a:off x="457200" y="21204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Thank You &amp; Questions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858000" y="4170960"/>
            <a:ext cx="2743200" cy="858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Times New Roman"/>
              </a:rPr>
              <a:t>Presented by: </a:t>
            </a:r>
            <a:br>
              <a:rPr sz="1800"/>
            </a:br>
            <a:r>
              <a:rPr b="0" lang="en-US" sz="1800" spc="-1" strike="noStrike">
                <a:latin typeface="Times New Roman"/>
              </a:rPr>
              <a:t>Tobi Obadiah</a:t>
            </a:r>
            <a:br>
              <a:rPr sz="1800"/>
            </a:br>
            <a:r>
              <a:rPr b="0" lang="en-US" sz="1800" spc="-1" strike="noStrike">
                <a:latin typeface="Times New Roman"/>
              </a:rPr>
              <a:t>P2936872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B3E0D8-9427-46B1-8C18-77ABBAF96600}" type="slidenum">
              <a:t>12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EE6BD61-28ED-4489-9F96-4FA2046EA3D1}" type="datetime1">
              <a:rPr lang="en-US"/>
              <a:t>11/05/2025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2025-11-05T00:30:28Z</dcterms:created>
  <dc:creator/>
  <dc:description/>
  <dc:language>en-US</dc:language>
  <cp:lastModifiedBy/>
  <dcterms:modified xsi:type="dcterms:W3CDTF">2025-11-05T11:59:47Z</dcterms:modified>
  <cp:revision>44</cp:revision>
  <dc:subject/>
  <dc:title>Blue Curve</dc:title>
</cp:coreProperties>
</file>